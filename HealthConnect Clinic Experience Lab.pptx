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lus Jakarta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49CEB0-1EF4-4439-8134-DF392DC1C42D}">
  <a:tblStyle styleId="{E249CEB0-1EF4-4439-8134-DF392DC1C4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lusJakartaSans-regular.fntdata"/><Relationship Id="rId14" Type="http://schemas.openxmlformats.org/officeDocument/2006/relationships/slide" Target="slides/slide8.xml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770983"/>
            <a:ext cx="6096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091779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39441"/>
            <a:ext cx="9101137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Findings &amp; Management Strategies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56583"/>
            <a:ext cx="6762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Translating audited analytics into high-impact clinical interventions ($N = 5,000$)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90600" y="2048916"/>
            <a:ext cx="4393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HEALTHCONNECT CLINIC EXPERIENCE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762000" y="2538412"/>
            <a:ext cx="10668000" cy="13716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762000" y="2538412"/>
            <a:ext cx="5715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62000" y="4291012"/>
            <a:ext cx="3403550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394150" y="4291012"/>
            <a:ext cx="3403550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026300" y="4291012"/>
            <a:ext cx="3403550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8572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Analytical Context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00150" y="2881312"/>
            <a:ext cx="9944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34E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Based on rigorous audits of 5,000 clinic records revealing critical operational bottlenecks across attendance rates, lead times, and patient wait intervals.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529137"/>
            <a:ext cx="38420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Sample Volume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805362"/>
            <a:ext cx="3659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5,000 Records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32275" y="4529137"/>
            <a:ext cx="38420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No-Show Baseline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32275" y="4805362"/>
            <a:ext cx="3659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1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48.46%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264425" y="4529137"/>
            <a:ext cx="38420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Mean Lead Time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264425" y="4805362"/>
            <a:ext cx="3659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29.64 Days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762000" y="2686050"/>
            <a:ext cx="5505450" cy="2352675"/>
          </a:xfrm>
          <a:prstGeom prst="roundRect">
            <a:avLst>
              <a:gd fmla="val 9716" name="adj"/>
            </a:avLst>
          </a:prstGeom>
          <a:solidFill>
            <a:srgbClr val="FFF1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38950" y="2714625"/>
            <a:ext cx="4591050" cy="1152525"/>
          </a:xfrm>
          <a:prstGeom prst="roundRect">
            <a:avLst>
              <a:gd fmla="val 99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838950" y="4057650"/>
            <a:ext cx="4591050" cy="9525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E1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BOTTLENECK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8572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High-Cost Attrition Crisis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5318" y="3143250"/>
            <a:ext cx="5738812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BE12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48.46%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5318" y="4343400"/>
            <a:ext cx="5738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8133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Unnotified Absence Rate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077075" y="2952750"/>
            <a:ext cx="5114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Idle Clinic Capacity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077075" y="3228975"/>
            <a:ext cx="4210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Nearly half of reserved appointment hours sit empty daily.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077075" y="4295775"/>
            <a:ext cx="5114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Overhead Inflation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077075" y="4572000"/>
            <a:ext cx="5114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Administrative costs multiply per completed visit.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762000" y="2147887"/>
            <a:ext cx="5181600" cy="3619500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248400" y="2147887"/>
            <a:ext cx="5181600" cy="3619500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25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26336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4175" y="26336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STRATEGY PART 1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8572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Managing Lead Times &amp; Capacity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14425" y="3186112"/>
            <a:ext cx="58757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Staggered SMS Cadences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14425" y="35671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Combat memory decay for appointments booked over 14 days out.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14425" y="4176712"/>
            <a:ext cx="5595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Triggers at 7 days, 3 days, and 24 hours prior.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00825" y="3186112"/>
            <a:ext cx="5591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Risk-Based Overbooking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00825" y="35671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 the 48.46% no-show baseline to safely optimize daily throughput.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00825" y="4176712"/>
            <a:ext cx="5591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ratios tailored to high-risk slot windows.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762000" y="2147887"/>
            <a:ext cx="5181600" cy="3619500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248400" y="2147887"/>
            <a:ext cx="5181600" cy="3619500"/>
          </a:xfrm>
          <a:prstGeom prst="roundRect">
            <a:avLst>
              <a:gd fmla="val 42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425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0825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3487" y="263366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0362" y="26336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STRATEGY PART 2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8572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Friction Mitigation &amp; Flagging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14425" y="3186112"/>
            <a:ext cx="58757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Distance &amp; Wait Buffers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114425" y="35671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Offset travel fatigue (10.11 km avg) and queue delays (24.19 mins avg).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114425" y="4176712"/>
            <a:ext cx="5595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 Priority Fast-Track check-in lanes.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00825" y="3186112"/>
            <a:ext cx="5591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Behavioral Flagging System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00825" y="35671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Tag profiles with prior unnotified absences for direct administrative outreach.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00825" y="4176712"/>
            <a:ext cx="5591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high-risk accounts to 48-hour phone verification.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762000" y="3309937"/>
            <a:ext cx="233645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098452" y="3309937"/>
            <a:ext cx="233645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434905" y="3309937"/>
            <a:ext cx="599509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62000" y="3838575"/>
            <a:ext cx="2336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098452" y="3838575"/>
            <a:ext cx="2336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434905" y="3838575"/>
            <a:ext cx="599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62000" y="4352925"/>
            <a:ext cx="2336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098452" y="4352925"/>
            <a:ext cx="2336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434905" y="4352925"/>
            <a:ext cx="599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62000" y="4867275"/>
            <a:ext cx="2336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098452" y="4867275"/>
            <a:ext cx="23364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434905" y="4867275"/>
            <a:ext cx="5995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18"/>
          <p:cNvGraphicFramePr/>
          <p:nvPr/>
        </p:nvGraphicFramePr>
        <p:xfrm>
          <a:off x="762000" y="2814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{E249CEB0-1EF4-4439-8134-DF392DC1C42D}</a:tableStyleId>
              </a:tblPr>
              <a:tblGrid>
                <a:gridCol w="2336450"/>
                <a:gridCol w="2336450"/>
                <a:gridCol w="5995100"/>
              </a:tblGrid>
              <a:tr h="51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Metric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Validated Benchmark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Operational Significance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Attendance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766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46.28%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Less than half of booked visits are completed successfully.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Mean 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766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29.64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Extended scheduling windows heavily increase no-show odds.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Average Waiting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766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24.19 Minutes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Critical queue bottleneck influencing long-term retention.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18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 SUMMARY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8382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Performance Benchmarks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762000" y="2500312"/>
            <a:ext cx="10668000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62000" y="3509962"/>
            <a:ext cx="10668000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62000" y="4519612"/>
            <a:ext cx="10668000" cy="819150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076325" y="2738437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1076325" y="3748087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1076325" y="4757737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762000" y="6096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ROADMAP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8572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Steps for Management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33450" y="2738437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647825" y="2800350"/>
            <a:ext cx="87987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automated SMS reminder sequences for all appointments booked &gt; 14 days out.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33450" y="3748087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647825" y="3810000"/>
            <a:ext cx="79890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 out the controlled overbooking matrix to recapture idle daily clinic capacity.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933450" y="4757737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647825" y="4819650"/>
            <a:ext cx="8786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Streamlit monitoring dashboards into daily administrative operational reviews.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5867400" y="4224337"/>
            <a:ext cx="4572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651819" y="2595562"/>
            <a:ext cx="688836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2524125" y="3367087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HealthConnect Clinic Experience Lab — Optimizing Patient Attendance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